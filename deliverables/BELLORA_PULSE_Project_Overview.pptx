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974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5B5CC"/>
                </a:solidFill>
                <a:latin typeface="Segoe UI"/>
              </a:defRPr>
            </a:pPr>
            <a:r>
              <a:t>PRODUCT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304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5B5CC"/>
                </a:solidFill>
                <a:latin typeface="Segoe UI"/>
              </a:defRPr>
            </a:pPr>
            <a:r>
              <a:t>01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1155700"/>
            <a:ext cx="3111500" cy="342900"/>
          </a:xfrm>
          <a:prstGeom prst="roundRect">
            <a:avLst>
              <a:gd name="adj" fmla="val 22222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33400" y="1943100"/>
            <a:ext cx="6540500" cy="1333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9424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BELLORA.PULSE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3467100"/>
            <a:ext cx="6261100" cy="1308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Your starting point</a:t>
            </a:r>
          </a:p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0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for the world of AI.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5257800"/>
            <a:ext cx="6350000" cy="63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5B5CC"/>
                </a:solidFill>
                <a:latin typeface="Segoe UI"/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News, tools, podcasts and trusted AI voices.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7000" y="1790700"/>
            <a:ext cx="3911600" cy="1117600"/>
          </a:xfrm>
          <a:prstGeom prst="roundRect">
            <a:avLst>
              <a:gd name="adj" fmla="val 13636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47000" y="2044700"/>
            <a:ext cx="50800" cy="609600"/>
          </a:xfrm>
          <a:prstGeom prst="rect">
            <a:avLst/>
          </a:prstGeom>
          <a:solidFill>
            <a:srgbClr val="7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13700" y="19939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NEWS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3700" y="2400300"/>
            <a:ext cx="33782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5B5CC"/>
                </a:solidFill>
                <a:latin typeface="Segoe UI"/>
              </a:defRPr>
            </a:pPr>
            <a:r>
              <a:t>Understand what is happening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47000" y="3187700"/>
            <a:ext cx="3911600" cy="1117600"/>
          </a:xfrm>
          <a:prstGeom prst="roundRect">
            <a:avLst>
              <a:gd name="adj" fmla="val 13636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47000" y="3441700"/>
            <a:ext cx="50800" cy="609600"/>
          </a:xfrm>
          <a:prstGeom prst="rect">
            <a:avLst/>
          </a:prstGeom>
          <a:solidFill>
            <a:srgbClr val="7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3700" y="33909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3700" y="3797300"/>
            <a:ext cx="33782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5B5CC"/>
                </a:solidFill>
                <a:latin typeface="Segoe UI"/>
              </a:defRPr>
            </a:pPr>
            <a:r>
              <a:t>Find people and ideas to learn from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47000" y="4584700"/>
            <a:ext cx="3911600" cy="1117600"/>
          </a:xfrm>
          <a:prstGeom prst="roundRect">
            <a:avLst>
              <a:gd name="adj" fmla="val 13636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47000" y="4838700"/>
            <a:ext cx="50800" cy="609600"/>
          </a:xfrm>
          <a:prstGeom prst="rect">
            <a:avLst/>
          </a:prstGeom>
          <a:solidFill>
            <a:srgbClr val="75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13700" y="4787900"/>
            <a:ext cx="33782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AI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3700" y="5194300"/>
            <a:ext cx="3378200" cy="419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5B5CC"/>
                </a:solidFill>
                <a:latin typeface="Segoe UI"/>
              </a:defRPr>
            </a:pPr>
            <a:r>
              <a:t>Find useful tools for everyday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UNDERSTAND THE PRODUCT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What is BELLORA.PULSE?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587500"/>
            <a:ext cx="111252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26177"/>
                </a:solidFill>
                <a:latin typeface="Segoe UI"/>
              </a:defRPr>
            </a:pPr>
            <a:r>
              <a:t>A single starting point for AI news, tools, podcasts and creators.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362200"/>
            <a:ext cx="3556000" cy="3124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362200"/>
            <a:ext cx="3556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Stay informed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News and developments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267200"/>
            <a:ext cx="3035300" cy="1130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Browse AI and startup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headlines, then visit the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original publisher.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8000" y="2362200"/>
            <a:ext cx="3556000" cy="3124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8000" y="2362200"/>
            <a:ext cx="3556000" cy="76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47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Find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7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People and publications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700" y="4267200"/>
            <a:ext cx="3035300" cy="1130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Discover useful voices,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educational channels and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public resources.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2600" y="2362200"/>
            <a:ext cx="3556000" cy="3124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2600" y="2362200"/>
            <a:ext cx="3556000" cy="76200"/>
          </a:xfrm>
          <a:prstGeom prst="rect">
            <a:avLst/>
          </a:prstGeom>
          <a:solidFill>
            <a:srgbClr val="715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93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Discover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93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Practical AI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9300" y="4267200"/>
            <a:ext cx="3035300" cy="1130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Search tools by task, pricing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and category; save useful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options for later.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5613400"/>
            <a:ext cx="11125200" cy="508000"/>
          </a:xfrm>
          <a:prstGeom prst="roundRect">
            <a:avLst>
              <a:gd name="adj" fmla="val 20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1200" y="5727700"/>
            <a:ext cx="107696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Segoe UI Semibold"/>
              </a:defRPr>
            </a:pPr>
            <a:r>
              <a:t>One starting point that connects people to useful original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THE PROBLEM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Why BELLORA.PULSE?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587500"/>
            <a:ext cx="111252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26177"/>
                </a:solidFill>
                <a:latin typeface="Segoe UI"/>
              </a:defRPr>
            </a:pPr>
            <a:r>
              <a:t>Following AI often involves several separate searches.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362200"/>
            <a:ext cx="3556000" cy="3124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362200"/>
            <a:ext cx="3556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Scattered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Too many starting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267200"/>
            <a:ext cx="3035300" cy="1130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News and announcements are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spread across publishers and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websites.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8000" y="2362200"/>
            <a:ext cx="3556000" cy="3124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8000" y="2362200"/>
            <a:ext cx="3556000" cy="76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47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Repeated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7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The same event appears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700" y="4267200"/>
            <a:ext cx="3035300" cy="1130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Different headlines can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describe one announcement or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development.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2600" y="2362200"/>
            <a:ext cx="3556000" cy="31242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2600" y="2362200"/>
            <a:ext cx="3556000" cy="76200"/>
          </a:xfrm>
          <a:prstGeom prst="rect">
            <a:avLst/>
          </a:prstGeom>
          <a:solidFill>
            <a:srgbClr val="715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93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Separate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93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Learning takes extra effort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9300" y="4267200"/>
            <a:ext cx="3035300" cy="1130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Useful tools, podcasts and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expert voices live on different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platforms.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5613400"/>
            <a:ext cx="11125200" cy="508000"/>
          </a:xfrm>
          <a:prstGeom prst="roundRect">
            <a:avLst>
              <a:gd name="adj" fmla="val 20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1200" y="5727700"/>
            <a:ext cx="107696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The problem to solve: help people find and organise relevant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WHAT WE WANT TO ACHIEVE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Vision &amp; Objective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905000"/>
            <a:ext cx="11125200" cy="152400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5500" y="2171700"/>
            <a:ext cx="10541000" cy="596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Segoe UI Semibold"/>
              </a:defRPr>
            </a:pPr>
            <a:r>
              <a:t>Make the AI ecosystem easier to explore.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2933700"/>
            <a:ext cx="105410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5B5CC"/>
                </a:solidFill>
                <a:latin typeface="Segoe UI"/>
              </a:defRPr>
            </a:pPr>
            <a:r>
              <a:t>A clear path from awareness to learning and practical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937000"/>
            <a:ext cx="3022600" cy="44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563EB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546600"/>
            <a:ext cx="342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Organise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5143500"/>
            <a:ext cx="34163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Bring relevant sources into a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consistent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3937000"/>
            <a:ext cx="3022600" cy="44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563EB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0" y="4546600"/>
            <a:ext cx="342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Clarify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8000" y="5143500"/>
            <a:ext cx="34163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Use topics, descriptions and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filters to guide discovery.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2600" y="3937000"/>
            <a:ext cx="3022600" cy="444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563EB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2600" y="4546600"/>
            <a:ext cx="34290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2600" y="5143500"/>
            <a:ext cx="3416300" cy="889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Connect readers to original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publishers, useful tools and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creator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WHO WILL USE IT?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Target Audience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587500"/>
            <a:ext cx="111252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26177"/>
                </a:solidFill>
                <a:latin typeface="Segoe UI"/>
              </a:defRPr>
            </a:pPr>
            <a:r>
              <a:t>Different visitors can use the same platform for different goals.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273300"/>
            <a:ext cx="5435600" cy="16510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2552700"/>
            <a:ext cx="4864100" cy="495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033"/>
                </a:solidFill>
                <a:latin typeface="Segoe UI Semibold"/>
              </a:defRPr>
            </a:pPr>
            <a:r>
              <a:rPr lang="en-US" dirty="0"/>
              <a:t>B</a:t>
            </a:r>
            <a:r>
              <a:rPr dirty="0"/>
              <a:t>eginners</a:t>
            </a:r>
            <a:r>
              <a:rPr lang="en-US" dirty="0"/>
              <a:t> level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12800" y="3175000"/>
            <a:ext cx="48641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Understand AI topics and find starting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resources.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273300"/>
            <a:ext cx="5435600" cy="16510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2400" y="2552700"/>
            <a:ext cx="4864100" cy="495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033"/>
                </a:solidFill>
                <a:latin typeface="Segoe UI Semibold"/>
              </a:defRPr>
            </a:pPr>
            <a:r>
              <a:t>Developers and researchers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2400" y="3175000"/>
            <a:ext cx="48641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Follow technical developments and useful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voices.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3400" y="4178300"/>
            <a:ext cx="5435600" cy="16510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800" y="4457700"/>
            <a:ext cx="4864100" cy="495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033"/>
                </a:solidFill>
                <a:latin typeface="Segoe UI Semibold"/>
              </a:defRPr>
            </a:pPr>
            <a:r>
              <a:t>Working professionals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080000"/>
            <a:ext cx="48641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Find tools and ideas for everyday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4178300"/>
            <a:ext cx="5435600" cy="16510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2400" y="4457700"/>
            <a:ext cx="4864100" cy="495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852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72033"/>
                </a:solidFill>
                <a:latin typeface="Segoe UI Semibold"/>
              </a:defRPr>
            </a:pPr>
            <a:r>
              <a:t>Founders and AI enthusiasts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400" y="5080000"/>
            <a:ext cx="48641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Track startup, funding and business</a:t>
            </a:r>
          </a:p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developments.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MAIN SECTIONS AND VALUE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What BELLORA.PULSE Offers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917700"/>
            <a:ext cx="11125200" cy="74930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600" y="2120900"/>
            <a:ext cx="30099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News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1600" y="2133600"/>
            <a:ext cx="7531100" cy="393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Headlines, topic filters, search, sorting and article saves.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2743200"/>
            <a:ext cx="11125200" cy="749300"/>
          </a:xfrm>
          <a:prstGeom prst="roundRect">
            <a:avLst>
              <a:gd name="adj" fmla="val 11864"/>
            </a:avLst>
          </a:prstGeom>
          <a:solidFill>
            <a:srgbClr val="ED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600" y="2946400"/>
            <a:ext cx="30099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AI tools + podcasts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1600" y="2959100"/>
            <a:ext cx="7531100" cy="393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Find tools by task and pricing; browse shows and save episodes.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400" y="3568700"/>
            <a:ext cx="11125200" cy="74930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600" y="3771900"/>
            <a:ext cx="30099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Learning /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1600" y="3784600"/>
            <a:ext cx="7531100" cy="393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A curated creator directory with topic and format filters.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4394200"/>
            <a:ext cx="11125200" cy="749300"/>
          </a:xfrm>
          <a:prstGeom prst="roundRect">
            <a:avLst>
              <a:gd name="adj" fmla="val 11864"/>
            </a:avLst>
          </a:prstGeom>
          <a:solidFill>
            <a:srgbClr val="ED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600" y="4597400"/>
            <a:ext cx="3009900" cy="406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Across the 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11600" y="4610100"/>
            <a:ext cx="7531100" cy="393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Saved items, responsive layouts and light / dark themes.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3400" y="5422900"/>
            <a:ext cx="11125200" cy="711200"/>
          </a:xfrm>
          <a:prstGeom prst="roundRect">
            <a:avLst>
              <a:gd name="adj" fmla="val 16071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600" y="5651500"/>
            <a:ext cx="107188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Why useful: follow updates, discover tools and keep learning in one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FOLLOW DEVELOPMENTS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News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9050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Browse by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4003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Explore AI, tools, robotics, startups,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funding and more.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3147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Find and 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8100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Search stories, change the sort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order and bookmark articles.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7244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Read at the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52197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Cards show a headline, description,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publisher and original link.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8980" y="1790700"/>
            <a:ext cx="7000240" cy="439420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oject content"/>
          <p:cNvSpPr txBox="1"/>
          <p:nvPr/>
        </p:nvSpPr>
        <p:spPr>
          <a:xfrm>
            <a:off x="4564380" y="1816100"/>
            <a:ext cx="6949440" cy="434340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7" name="Project content"/>
          <p:cNvSpPr txBox="1"/>
          <p:nvPr/>
        </p:nvSpPr>
        <p:spPr>
          <a:xfrm>
            <a:off x="4894380" y="2076100"/>
            <a:ext cx="628944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900" b="1">
                <a:solidFill>
                  <a:srgbClr val="75AAFF"/>
                </a:solidFill>
                <a:latin typeface="Segoe UI"/>
              </a:defRPr>
            </a:pPr>
            <a:r>
              <a:t>NEWS DISCOVERY</a:t>
            </a:r>
          </a:p>
        </p:txBody>
      </p:sp>
      <p:sp>
        <p:nvSpPr>
          <p:cNvPr id="18" name="Project content"/>
          <p:cNvSpPr txBox="1"/>
          <p:nvPr/>
        </p:nvSpPr>
        <p:spPr>
          <a:xfrm>
            <a:off x="4864380" y="271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9" name="Project content"/>
          <p:cNvSpPr txBox="1"/>
          <p:nvPr/>
        </p:nvSpPr>
        <p:spPr>
          <a:xfrm>
            <a:off x="5064380" y="282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01 / BROWSE</a:t>
            </a:r>
          </a:p>
        </p:txBody>
      </p:sp>
      <p:sp>
        <p:nvSpPr>
          <p:cNvPr id="20" name="Project content"/>
          <p:cNvSpPr txBox="1"/>
          <p:nvPr/>
        </p:nvSpPr>
        <p:spPr>
          <a:xfrm>
            <a:off x="5064380" y="314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AI, startups, funding and more</a:t>
            </a:r>
          </a:p>
        </p:txBody>
      </p:sp>
      <p:sp>
        <p:nvSpPr>
          <p:cNvPr id="21" name="Project content"/>
          <p:cNvSpPr txBox="1"/>
          <p:nvPr/>
        </p:nvSpPr>
        <p:spPr>
          <a:xfrm>
            <a:off x="4864380" y="368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2" name="Project content"/>
          <p:cNvSpPr txBox="1"/>
          <p:nvPr/>
        </p:nvSpPr>
        <p:spPr>
          <a:xfrm>
            <a:off x="5064380" y="379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02 / REFINE</a:t>
            </a:r>
          </a:p>
        </p:txBody>
      </p:sp>
      <p:sp>
        <p:nvSpPr>
          <p:cNvPr id="23" name="Project content"/>
          <p:cNvSpPr txBox="1"/>
          <p:nvPr/>
        </p:nvSpPr>
        <p:spPr>
          <a:xfrm>
            <a:off x="5064380" y="411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Search, sort and explore headlines</a:t>
            </a:r>
          </a:p>
        </p:txBody>
      </p:sp>
      <p:sp>
        <p:nvSpPr>
          <p:cNvPr id="24" name="Project content"/>
          <p:cNvSpPr txBox="1"/>
          <p:nvPr/>
        </p:nvSpPr>
        <p:spPr>
          <a:xfrm>
            <a:off x="4864380" y="465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5" name="Project content"/>
          <p:cNvSpPr txBox="1"/>
          <p:nvPr/>
        </p:nvSpPr>
        <p:spPr>
          <a:xfrm>
            <a:off x="5064380" y="476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03 / READ &amp; SAVE</a:t>
            </a:r>
          </a:p>
        </p:txBody>
      </p:sp>
      <p:sp>
        <p:nvSpPr>
          <p:cNvPr id="26" name="Project content"/>
          <p:cNvSpPr txBox="1"/>
          <p:nvPr/>
        </p:nvSpPr>
        <p:spPr>
          <a:xfrm>
            <a:off x="5064380" y="508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Open original sources; bookmark stories</a:t>
            </a:r>
          </a:p>
        </p:txBody>
      </p:sp>
      <p:sp>
        <p:nvSpPr>
          <p:cNvPr id="27" name="Project content"/>
          <p:cNvSpPr txBox="1"/>
          <p:nvPr/>
        </p:nvSpPr>
        <p:spPr>
          <a:xfrm>
            <a:off x="4894380" y="5849500"/>
            <a:ext cx="628944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A5B5CC"/>
                </a:solidFill>
                <a:latin typeface="Segoe UI"/>
              </a:defRPr>
            </a:pPr>
            <a:r>
              <a:t>FEATURE FLOW / CURRENT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DISCOVER PRACTICAL AI TOOLS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AI Tools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9050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Find your next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4003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Search tools by name, task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or useful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3147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Narrow the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8100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Filter by category, pricing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and open-source availability.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7244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Save and explore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52197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Read a listing, save it and continue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to the employer’s application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8980" y="1790700"/>
            <a:ext cx="7000240" cy="439420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oject content"/>
          <p:cNvSpPr txBox="1"/>
          <p:nvPr/>
        </p:nvSpPr>
        <p:spPr>
          <a:xfrm>
            <a:off x="4564380" y="1816100"/>
            <a:ext cx="6949440" cy="434340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7" name="Project content"/>
          <p:cNvSpPr txBox="1"/>
          <p:nvPr/>
        </p:nvSpPr>
        <p:spPr>
          <a:xfrm>
            <a:off x="4894380" y="2076100"/>
            <a:ext cx="628944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900" b="1">
                <a:solidFill>
                  <a:srgbClr val="75AAFF"/>
                </a:solidFill>
                <a:latin typeface="Segoe UI"/>
              </a:defRPr>
            </a:pPr>
            <a:r>
              <a:t>YOUR AI TOOLKIT</a:t>
            </a:r>
          </a:p>
        </p:txBody>
      </p:sp>
      <p:sp>
        <p:nvSpPr>
          <p:cNvPr id="18" name="Project content"/>
          <p:cNvSpPr txBox="1"/>
          <p:nvPr/>
        </p:nvSpPr>
        <p:spPr>
          <a:xfrm>
            <a:off x="4864380" y="271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9" name="Project content"/>
          <p:cNvSpPr txBox="1"/>
          <p:nvPr/>
        </p:nvSpPr>
        <p:spPr>
          <a:xfrm>
            <a:off x="5064380" y="282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01 / SEARCH</a:t>
            </a:r>
          </a:p>
        </p:txBody>
      </p:sp>
      <p:sp>
        <p:nvSpPr>
          <p:cNvPr id="20" name="Project content"/>
          <p:cNvSpPr txBox="1"/>
          <p:nvPr/>
        </p:nvSpPr>
        <p:spPr>
          <a:xfrm>
            <a:off x="5064380" y="314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Find a tool by name, task or feature</a:t>
            </a:r>
          </a:p>
        </p:txBody>
      </p:sp>
      <p:sp>
        <p:nvSpPr>
          <p:cNvPr id="21" name="Project content"/>
          <p:cNvSpPr txBox="1"/>
          <p:nvPr/>
        </p:nvSpPr>
        <p:spPr>
          <a:xfrm>
            <a:off x="4864380" y="368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2" name="Project content"/>
          <p:cNvSpPr txBox="1"/>
          <p:nvPr/>
        </p:nvSpPr>
        <p:spPr>
          <a:xfrm>
            <a:off x="5064380" y="379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02 / FILTER</a:t>
            </a:r>
          </a:p>
        </p:txBody>
      </p:sp>
      <p:sp>
        <p:nvSpPr>
          <p:cNvPr id="23" name="Project content"/>
          <p:cNvSpPr txBox="1"/>
          <p:nvPr/>
        </p:nvSpPr>
        <p:spPr>
          <a:xfrm>
            <a:off x="5064380" y="411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Category · Pricing · Open source · A–Z</a:t>
            </a:r>
          </a:p>
        </p:txBody>
      </p:sp>
      <p:sp>
        <p:nvSpPr>
          <p:cNvPr id="24" name="Project content"/>
          <p:cNvSpPr txBox="1"/>
          <p:nvPr/>
        </p:nvSpPr>
        <p:spPr>
          <a:xfrm>
            <a:off x="4864380" y="465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5" name="Project content"/>
          <p:cNvSpPr txBox="1"/>
          <p:nvPr/>
        </p:nvSpPr>
        <p:spPr>
          <a:xfrm>
            <a:off x="5064380" y="476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03 / KEEP</a:t>
            </a:r>
          </a:p>
        </p:txBody>
      </p:sp>
      <p:sp>
        <p:nvSpPr>
          <p:cNvPr id="26" name="Project content"/>
          <p:cNvSpPr txBox="1"/>
          <p:nvPr/>
        </p:nvSpPr>
        <p:spPr>
          <a:xfrm>
            <a:off x="5064380" y="508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Save favourites and explore details</a:t>
            </a:r>
          </a:p>
        </p:txBody>
      </p:sp>
      <p:sp>
        <p:nvSpPr>
          <p:cNvPr id="27" name="Project content"/>
          <p:cNvSpPr txBox="1"/>
          <p:nvPr/>
        </p:nvSpPr>
        <p:spPr>
          <a:xfrm>
            <a:off x="4894380" y="5849500"/>
            <a:ext cx="628944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A5B5CC"/>
                </a:solidFill>
                <a:latin typeface="Segoe UI"/>
              </a:defRPr>
            </a:pPr>
            <a:r>
              <a:t>FEATURE FLOW / CURRENT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FIND USEFUL PEOPLE AND IDEAS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Creator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9050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Curated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4003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Explore individuals, publications,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communities and educational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channels.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3147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Search by interest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8100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Use topic, profile-type and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content-format filters.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724400"/>
            <a:ext cx="35179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04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2033"/>
                </a:solidFill>
                <a:latin typeface="Segoe UI Semibold"/>
              </a:defRPr>
            </a:pPr>
            <a:r>
              <a:t>Continue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5219700"/>
            <a:ext cx="351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Read a profile, save it and open its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public resource link.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8980" y="1790700"/>
            <a:ext cx="7000240" cy="439420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roject content"/>
          <p:cNvSpPr txBox="1"/>
          <p:nvPr/>
        </p:nvSpPr>
        <p:spPr>
          <a:xfrm>
            <a:off x="4564380" y="1816100"/>
            <a:ext cx="6949440" cy="434340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7" name="Project content"/>
          <p:cNvSpPr txBox="1"/>
          <p:nvPr/>
        </p:nvSpPr>
        <p:spPr>
          <a:xfrm>
            <a:off x="4894380" y="2076100"/>
            <a:ext cx="628944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900" b="1">
                <a:solidFill>
                  <a:srgbClr val="75AAFF"/>
                </a:solidFill>
                <a:latin typeface="Segoe UI"/>
              </a:defRPr>
            </a:pPr>
            <a:r>
              <a:t>VOICES WORTH FOLLOWING</a:t>
            </a:r>
          </a:p>
        </p:txBody>
      </p:sp>
      <p:sp>
        <p:nvSpPr>
          <p:cNvPr id="18" name="Project content"/>
          <p:cNvSpPr txBox="1"/>
          <p:nvPr/>
        </p:nvSpPr>
        <p:spPr>
          <a:xfrm>
            <a:off x="4864380" y="271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9" name="Project content"/>
          <p:cNvSpPr txBox="1"/>
          <p:nvPr/>
        </p:nvSpPr>
        <p:spPr>
          <a:xfrm>
            <a:off x="5064380" y="282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01 / DISCOVER</a:t>
            </a:r>
          </a:p>
        </p:txBody>
      </p:sp>
      <p:sp>
        <p:nvSpPr>
          <p:cNvPr id="20" name="Project content"/>
          <p:cNvSpPr txBox="1"/>
          <p:nvPr/>
        </p:nvSpPr>
        <p:spPr>
          <a:xfrm>
            <a:off x="5064380" y="314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Individuals, publications and communities</a:t>
            </a:r>
          </a:p>
        </p:txBody>
      </p:sp>
      <p:sp>
        <p:nvSpPr>
          <p:cNvPr id="21" name="Project content"/>
          <p:cNvSpPr txBox="1"/>
          <p:nvPr/>
        </p:nvSpPr>
        <p:spPr>
          <a:xfrm>
            <a:off x="4864380" y="368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2" name="Project content"/>
          <p:cNvSpPr txBox="1"/>
          <p:nvPr/>
        </p:nvSpPr>
        <p:spPr>
          <a:xfrm>
            <a:off x="5064380" y="379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02 / REFINE</a:t>
            </a:r>
          </a:p>
        </p:txBody>
      </p:sp>
      <p:sp>
        <p:nvSpPr>
          <p:cNvPr id="23" name="Project content"/>
          <p:cNvSpPr txBox="1"/>
          <p:nvPr/>
        </p:nvSpPr>
        <p:spPr>
          <a:xfrm>
            <a:off x="5064380" y="411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Topics · Profile type · Content format</a:t>
            </a:r>
          </a:p>
        </p:txBody>
      </p:sp>
      <p:sp>
        <p:nvSpPr>
          <p:cNvPr id="24" name="Project content"/>
          <p:cNvSpPr txBox="1"/>
          <p:nvPr/>
        </p:nvSpPr>
        <p:spPr>
          <a:xfrm>
            <a:off x="4864380" y="4656100"/>
            <a:ext cx="6349440" cy="79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5" name="Project content"/>
          <p:cNvSpPr txBox="1"/>
          <p:nvPr/>
        </p:nvSpPr>
        <p:spPr>
          <a:xfrm>
            <a:off x="5064380" y="476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700" b="1">
                <a:solidFill>
                  <a:srgbClr val="FFFFFF"/>
                </a:solidFill>
                <a:latin typeface="Segoe UI"/>
              </a:defRPr>
            </a:pPr>
            <a:r>
              <a:t>03 / CONTINUE</a:t>
            </a:r>
          </a:p>
        </p:txBody>
      </p:sp>
      <p:sp>
        <p:nvSpPr>
          <p:cNvPr id="26" name="Project content"/>
          <p:cNvSpPr txBox="1"/>
          <p:nvPr/>
        </p:nvSpPr>
        <p:spPr>
          <a:xfrm>
            <a:off x="5064380" y="5086100"/>
            <a:ext cx="59494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0">
                <a:solidFill>
                  <a:srgbClr val="A5B5CC"/>
                </a:solidFill>
                <a:latin typeface="Segoe UI"/>
              </a:defRPr>
            </a:pPr>
            <a:r>
              <a:t>Read profiles and open public resources</a:t>
            </a:r>
          </a:p>
        </p:txBody>
      </p:sp>
      <p:sp>
        <p:nvSpPr>
          <p:cNvPr id="27" name="Project content"/>
          <p:cNvSpPr txBox="1"/>
          <p:nvPr/>
        </p:nvSpPr>
        <p:spPr>
          <a:xfrm>
            <a:off x="4894380" y="5849500"/>
            <a:ext cx="628944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A5B5CC"/>
                </a:solidFill>
                <a:latin typeface="Segoe UI"/>
              </a:defRPr>
            </a:pPr>
            <a:r>
              <a:t>FEATURE FLOW / CURRENT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FROM SOURCES TO THE SCREEN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How BELLORA.PULSE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587500"/>
            <a:ext cx="111252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26177"/>
                </a:solidFill>
                <a:latin typeface="Segoe UI"/>
              </a:defRPr>
            </a:pPr>
            <a:r>
              <a:t>Collect or maintain data, organise it, then help users discover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311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Segoe UI Semibold"/>
              </a:defRPr>
            </a:pPr>
            <a:r>
              <a:t>NEWS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265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400" y="287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GNews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6900" y="299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63900" y="294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263900" y="299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90900" y="265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7900" y="287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Validate + filter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4400" y="299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21400" y="294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121400" y="299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48400" y="265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5400" y="287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Check duplicates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51900" y="299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78900" y="294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978900" y="299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05900" y="265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2900" y="287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Store + 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581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Segoe UI Semibold"/>
              </a:defRPr>
            </a:pPr>
            <a:r>
              <a:t>RESOURCES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3400" y="392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400" y="414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Curated profiles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6900" y="426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63900" y="421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263900" y="426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90900" y="392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17900" y="414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Assign topics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94400" y="426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21400" y="421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121400" y="426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248400" y="392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75400" y="414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Search + filters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51900" y="426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978900" y="421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978900" y="426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105900" y="392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32900" y="414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Profile + link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3400" y="48514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Segoe UI Semibold"/>
              </a:defRPr>
            </a:pPr>
            <a:r>
              <a:t>TOOLS / AUDIO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3400" y="519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0400" y="541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Curated catalogs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136900" y="553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263900" y="548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263900" y="553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390900" y="519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517900" y="541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Tasks + topics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94400" y="553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121400" y="548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121400" y="553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248400" y="519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75400" y="541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Search + save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51900" y="5537200"/>
            <a:ext cx="203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978900" y="54864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978900" y="55372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105900" y="5194300"/>
            <a:ext cx="2552700" cy="6858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32900" y="5410200"/>
            <a:ext cx="22987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033"/>
                </a:solidFill>
                <a:latin typeface="Segoe UI Semibold"/>
              </a:defRPr>
            </a:pPr>
            <a:r>
              <a:t>Official links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RESPONSIVE EXPERIENCE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Website Design /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574800"/>
            <a:ext cx="111252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News, Tools, Podcasts and Creators — with saved items and theme controls.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250" y="1993900"/>
            <a:ext cx="7797800" cy="3924300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86077" y="1917700"/>
            <a:ext cx="1811345" cy="386080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3400" y="5905500"/>
            <a:ext cx="7937500" cy="254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Segoe UI Semibold"/>
              </a:defRPr>
            </a:pPr>
            <a:r>
              <a:t>DESKTOP / INFORMATION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8100" y="5905500"/>
            <a:ext cx="2527300" cy="266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Segoe UI Semibold"/>
              </a:defRPr>
            </a:pPr>
            <a:r>
              <a:t>MOBILE / STACKED CONTENT</a:t>
            </a:r>
          </a:p>
        </p:txBody>
      </p:sp>
      <p:sp>
        <p:nvSpPr>
          <p:cNvPr id="16" name="Project content"/>
          <p:cNvSpPr txBox="1"/>
          <p:nvPr/>
        </p:nvSpPr>
        <p:spPr>
          <a:xfrm>
            <a:off x="628650" y="2019300"/>
            <a:ext cx="7747000" cy="387350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17" name="Project content"/>
          <p:cNvSpPr txBox="1"/>
          <p:nvPr/>
        </p:nvSpPr>
        <p:spPr>
          <a:xfrm>
            <a:off x="828650" y="2209300"/>
            <a:ext cx="7347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500" b="1">
                <a:solidFill>
                  <a:srgbClr val="75AAFF"/>
                </a:solidFill>
                <a:latin typeface="Segoe UI"/>
              </a:defRPr>
            </a:pPr>
            <a:r>
              <a:t>BELLORA.PULSE    News  ·  Tools  ·  Podcasts  ·  Creators</a:t>
            </a:r>
          </a:p>
        </p:txBody>
      </p:sp>
      <p:sp>
        <p:nvSpPr>
          <p:cNvPr id="18" name="Project content"/>
          <p:cNvSpPr txBox="1"/>
          <p:nvPr/>
        </p:nvSpPr>
        <p:spPr>
          <a:xfrm>
            <a:off x="828650" y="2799300"/>
            <a:ext cx="7347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2500" b="1">
                <a:solidFill>
                  <a:srgbClr val="FFFFFF"/>
                </a:solidFill>
                <a:latin typeface="Segoe UI"/>
              </a:defRPr>
            </a:pPr>
            <a:r>
              <a:t>Discover what is happening in AI.</a:t>
            </a:r>
          </a:p>
        </p:txBody>
      </p:sp>
      <p:sp>
        <p:nvSpPr>
          <p:cNvPr id="19" name="Project content"/>
          <p:cNvSpPr txBox="1"/>
          <p:nvPr/>
        </p:nvSpPr>
        <p:spPr>
          <a:xfrm>
            <a:off x="828650" y="3439300"/>
            <a:ext cx="73470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400" b="0">
                <a:solidFill>
                  <a:srgbClr val="A5B5CC"/>
                </a:solidFill>
                <a:latin typeface="Segoe UI"/>
              </a:defRPr>
            </a:pPr>
            <a:r>
              <a:t>Search headlines     /     Browse topics     /     Saved items</a:t>
            </a:r>
          </a:p>
        </p:txBody>
      </p:sp>
      <p:sp>
        <p:nvSpPr>
          <p:cNvPr id="20" name="Project content"/>
          <p:cNvSpPr txBox="1"/>
          <p:nvPr/>
        </p:nvSpPr>
        <p:spPr>
          <a:xfrm>
            <a:off x="828650" y="4039300"/>
            <a:ext cx="2250000" cy="115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1" name="Project content"/>
          <p:cNvSpPr txBox="1"/>
          <p:nvPr/>
        </p:nvSpPr>
        <p:spPr>
          <a:xfrm>
            <a:off x="978650" y="4249300"/>
            <a:ext cx="19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Featured story</a:t>
            </a:r>
          </a:p>
        </p:txBody>
      </p:sp>
      <p:sp>
        <p:nvSpPr>
          <p:cNvPr id="22" name="Project content"/>
          <p:cNvSpPr txBox="1"/>
          <p:nvPr/>
        </p:nvSpPr>
        <p:spPr>
          <a:xfrm>
            <a:off x="978650" y="4729300"/>
            <a:ext cx="19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300" b="0">
                <a:solidFill>
                  <a:srgbClr val="A5B5CC"/>
                </a:solidFill>
                <a:latin typeface="Segoe UI"/>
              </a:defRPr>
            </a:pPr>
            <a:r>
              <a:t>Headline + source</a:t>
            </a:r>
          </a:p>
        </p:txBody>
      </p:sp>
      <p:sp>
        <p:nvSpPr>
          <p:cNvPr id="23" name="Project content"/>
          <p:cNvSpPr txBox="1"/>
          <p:nvPr/>
        </p:nvSpPr>
        <p:spPr>
          <a:xfrm>
            <a:off x="3278650" y="4039300"/>
            <a:ext cx="2250000" cy="115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4" name="Project content"/>
          <p:cNvSpPr txBox="1"/>
          <p:nvPr/>
        </p:nvSpPr>
        <p:spPr>
          <a:xfrm>
            <a:off x="3428650" y="4249300"/>
            <a:ext cx="19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Latest updates</a:t>
            </a:r>
          </a:p>
        </p:txBody>
      </p:sp>
      <p:sp>
        <p:nvSpPr>
          <p:cNvPr id="25" name="Project content"/>
          <p:cNvSpPr txBox="1"/>
          <p:nvPr/>
        </p:nvSpPr>
        <p:spPr>
          <a:xfrm>
            <a:off x="3428650" y="4729300"/>
            <a:ext cx="19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300" b="0">
                <a:solidFill>
                  <a:srgbClr val="A5B5CC"/>
                </a:solidFill>
                <a:latin typeface="Segoe UI"/>
              </a:defRPr>
            </a:pPr>
            <a:r>
              <a:t>Cards + categories</a:t>
            </a:r>
          </a:p>
        </p:txBody>
      </p:sp>
      <p:sp>
        <p:nvSpPr>
          <p:cNvPr id="26" name="Project content"/>
          <p:cNvSpPr txBox="1"/>
          <p:nvPr/>
        </p:nvSpPr>
        <p:spPr>
          <a:xfrm>
            <a:off x="5728650" y="4039300"/>
            <a:ext cx="2250000" cy="1150000"/>
          </a:xfrm>
          <a:prstGeom prst="rect">
            <a:avLst/>
          </a:prstGeom>
          <a:solidFill>
            <a:srgbClr val="192941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27" name="Project content"/>
          <p:cNvSpPr txBox="1"/>
          <p:nvPr/>
        </p:nvSpPr>
        <p:spPr>
          <a:xfrm>
            <a:off x="5878650" y="4249300"/>
            <a:ext cx="195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1">
                <a:solidFill>
                  <a:srgbClr val="FFFFFF"/>
                </a:solidFill>
                <a:latin typeface="Segoe UI"/>
              </a:defRPr>
            </a:pPr>
            <a:r>
              <a:t>Explore more</a:t>
            </a:r>
          </a:p>
        </p:txBody>
      </p:sp>
      <p:sp>
        <p:nvSpPr>
          <p:cNvPr id="28" name="Project content"/>
          <p:cNvSpPr txBox="1"/>
          <p:nvPr/>
        </p:nvSpPr>
        <p:spPr>
          <a:xfrm>
            <a:off x="5878650" y="4729300"/>
            <a:ext cx="19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300" b="0">
                <a:solidFill>
                  <a:srgbClr val="A5B5CC"/>
                </a:solidFill>
                <a:latin typeface="Segoe UI"/>
              </a:defRPr>
            </a:pPr>
            <a:r>
              <a:t>Tools + podcasts</a:t>
            </a:r>
          </a:p>
        </p:txBody>
      </p:sp>
      <p:sp>
        <p:nvSpPr>
          <p:cNvPr id="29" name="Project content"/>
          <p:cNvSpPr txBox="1"/>
          <p:nvPr/>
        </p:nvSpPr>
        <p:spPr>
          <a:xfrm>
            <a:off x="828650" y="5439300"/>
            <a:ext cx="7347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000" b="0">
                <a:solidFill>
                  <a:srgbClr val="A5B5CC"/>
                </a:solidFill>
                <a:latin typeface="Segoe UI"/>
              </a:defRPr>
            </a:pPr>
            <a:r>
              <a:t>ILLUSTRATIVE LAYOUT / NOT A LIVE SCREENSHOT</a:t>
            </a:r>
          </a:p>
        </p:txBody>
      </p:sp>
      <p:sp>
        <p:nvSpPr>
          <p:cNvPr id="30" name="Project content"/>
          <p:cNvSpPr txBox="1"/>
          <p:nvPr/>
        </p:nvSpPr>
        <p:spPr>
          <a:xfrm>
            <a:off x="9311477" y="1943100"/>
            <a:ext cx="1760545" cy="3810000"/>
          </a:xfrm>
          <a:prstGeom prst="rect">
            <a:avLst/>
          </a:prstGeom>
          <a:solidFill>
            <a:srgbClr val="EFF4FB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1" name="Project content"/>
          <p:cNvSpPr txBox="1"/>
          <p:nvPr/>
        </p:nvSpPr>
        <p:spPr>
          <a:xfrm>
            <a:off x="9431477" y="2123100"/>
            <a:ext cx="1520545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200" b="1">
                <a:solidFill>
                  <a:srgbClr val="244777"/>
                </a:solidFill>
                <a:latin typeface="Segoe UI"/>
              </a:defRPr>
            </a:pPr>
            <a:r>
              <a:t>BELLORA.PULSE</a:t>
            </a:r>
          </a:p>
        </p:txBody>
      </p:sp>
      <p:sp>
        <p:nvSpPr>
          <p:cNvPr id="32" name="Project content"/>
          <p:cNvSpPr txBox="1"/>
          <p:nvPr/>
        </p:nvSpPr>
        <p:spPr>
          <a:xfrm>
            <a:off x="9431477" y="2563100"/>
            <a:ext cx="1520545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900" b="1">
                <a:solidFill>
                  <a:srgbClr val="101C30"/>
                </a:solidFill>
                <a:latin typeface="Segoe UI"/>
              </a:defRPr>
            </a:pPr>
            <a:r>
              <a:t>Discover AI</a:t>
            </a:r>
          </a:p>
          <a:p>
            <a:pPr>
              <a:lnSpc>
                <a:spcPct val="120000"/>
              </a:lnSpc>
              <a:defRPr sz="1900" b="1">
                <a:solidFill>
                  <a:srgbClr val="101C30"/>
                </a:solidFill>
                <a:latin typeface="Segoe UI"/>
              </a:defRPr>
            </a:pPr>
            <a:r>
              <a:t>on the go.</a:t>
            </a:r>
          </a:p>
        </p:txBody>
      </p:sp>
      <p:sp>
        <p:nvSpPr>
          <p:cNvPr id="33" name="Project content"/>
          <p:cNvSpPr txBox="1"/>
          <p:nvPr/>
        </p:nvSpPr>
        <p:spPr>
          <a:xfrm>
            <a:off x="9411477" y="3343100"/>
            <a:ext cx="1560545" cy="370000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4" name="Project content"/>
          <p:cNvSpPr txBox="1"/>
          <p:nvPr/>
        </p:nvSpPr>
        <p:spPr>
          <a:xfrm>
            <a:off x="9481477" y="3423100"/>
            <a:ext cx="1420545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200" b="0">
                <a:solidFill>
                  <a:srgbClr val="244777"/>
                </a:solidFill>
                <a:latin typeface="Segoe UI"/>
              </a:defRPr>
            </a:pPr>
            <a:r>
              <a:t>Search &amp; topics</a:t>
            </a:r>
          </a:p>
        </p:txBody>
      </p:sp>
      <p:sp>
        <p:nvSpPr>
          <p:cNvPr id="35" name="Project content"/>
          <p:cNvSpPr txBox="1"/>
          <p:nvPr/>
        </p:nvSpPr>
        <p:spPr>
          <a:xfrm>
            <a:off x="9411477" y="3843100"/>
            <a:ext cx="1560545" cy="370000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6" name="Project content"/>
          <p:cNvSpPr txBox="1"/>
          <p:nvPr/>
        </p:nvSpPr>
        <p:spPr>
          <a:xfrm>
            <a:off x="9481477" y="3923100"/>
            <a:ext cx="1420545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200" b="0">
                <a:solidFill>
                  <a:srgbClr val="244777"/>
                </a:solidFill>
                <a:latin typeface="Segoe UI"/>
              </a:defRPr>
            </a:pPr>
            <a:r>
              <a:t>Featured story</a:t>
            </a:r>
          </a:p>
        </p:txBody>
      </p:sp>
      <p:sp>
        <p:nvSpPr>
          <p:cNvPr id="37" name="Project content"/>
          <p:cNvSpPr txBox="1"/>
          <p:nvPr/>
        </p:nvSpPr>
        <p:spPr>
          <a:xfrm>
            <a:off x="9411477" y="4343100"/>
            <a:ext cx="1560545" cy="370000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38" name="Project content"/>
          <p:cNvSpPr txBox="1"/>
          <p:nvPr/>
        </p:nvSpPr>
        <p:spPr>
          <a:xfrm>
            <a:off x="9481477" y="4423100"/>
            <a:ext cx="1420545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200" b="0">
                <a:solidFill>
                  <a:srgbClr val="244777"/>
                </a:solidFill>
                <a:latin typeface="Segoe UI"/>
              </a:defRPr>
            </a:pPr>
            <a:r>
              <a:t>Latest updates</a:t>
            </a:r>
          </a:p>
        </p:txBody>
      </p:sp>
      <p:sp>
        <p:nvSpPr>
          <p:cNvPr id="39" name="Project content"/>
          <p:cNvSpPr txBox="1"/>
          <p:nvPr/>
        </p:nvSpPr>
        <p:spPr>
          <a:xfrm>
            <a:off x="9411477" y="4843100"/>
            <a:ext cx="1560545" cy="370000"/>
          </a:xfrm>
          <a:prstGeom prst="rect">
            <a:avLst/>
          </a:prstGeom>
          <a:solidFill>
            <a:srgbClr val="DDE7F4"/>
          </a:solidFill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800" b="0">
                <a:solidFill>
                  <a:srgbClr val="FFFFFF"/>
                </a:solidFill>
                <a:latin typeface="Segoe UI"/>
              </a:defRPr>
            </a:pPr>
            <a:endParaRPr/>
          </a:p>
        </p:txBody>
      </p:sp>
      <p:sp>
        <p:nvSpPr>
          <p:cNvPr id="40" name="Project content"/>
          <p:cNvSpPr txBox="1"/>
          <p:nvPr/>
        </p:nvSpPr>
        <p:spPr>
          <a:xfrm>
            <a:off x="9481477" y="4923100"/>
            <a:ext cx="1420545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  <a:defRPr sz="1200" b="0">
                <a:solidFill>
                  <a:srgbClr val="244777"/>
                </a:solidFill>
                <a:latin typeface="Segoe UI"/>
              </a:defRPr>
            </a:pPr>
            <a:r>
              <a:t>Saved items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THE TECHNICAL FOUNDATION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Technology &amp;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1917700"/>
            <a:ext cx="3556000" cy="1143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2133600"/>
            <a:ext cx="31115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603500"/>
            <a:ext cx="31115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033"/>
                </a:solidFill>
                <a:latin typeface="Segoe UI Semibold"/>
              </a:defRPr>
            </a:pPr>
            <a:r>
              <a:t>React + Tailwind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8000" y="1917700"/>
            <a:ext cx="3556000" cy="1143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6600" y="2133600"/>
            <a:ext cx="31115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App + server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600" y="2603500"/>
            <a:ext cx="31115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033"/>
                </a:solidFill>
                <a:latin typeface="Segoe UI Semibold"/>
              </a:defRPr>
            </a:pPr>
            <a:r>
              <a:t>Next.js + 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2600" y="1917700"/>
            <a:ext cx="3556000" cy="11430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1200" y="2133600"/>
            <a:ext cx="31115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Validation +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1200" y="2603500"/>
            <a:ext cx="31115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033"/>
                </a:solidFill>
                <a:latin typeface="Segoe UI Semibold"/>
              </a:defRPr>
            </a:pPr>
            <a:r>
              <a:t>Zod + Vitest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3400" y="3619500"/>
            <a:ext cx="3556000" cy="1257300"/>
          </a:xfrm>
          <a:prstGeom prst="roundRect">
            <a:avLst>
              <a:gd name="adj" fmla="val 10101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1200" y="3822700"/>
            <a:ext cx="32004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Semibold"/>
              </a:defRPr>
            </a:pPr>
            <a:r>
              <a:t>Browser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394200"/>
            <a:ext cx="32004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5B5CC"/>
                </a:solidFill>
                <a:latin typeface="Segoe UI"/>
              </a:defRPr>
            </a:pPr>
            <a:r>
              <a:t>Pages and interactions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40200" y="4254500"/>
            <a:ext cx="127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91000" y="42037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91000" y="42545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18000" y="3619500"/>
            <a:ext cx="3556000" cy="1257300"/>
          </a:xfrm>
          <a:prstGeom prst="roundRect">
            <a:avLst>
              <a:gd name="adj" fmla="val 10101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95800" y="3822700"/>
            <a:ext cx="32004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Semibold"/>
              </a:defRPr>
            </a:pPr>
            <a:r>
              <a:t>Next.js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5800" y="4394200"/>
            <a:ext cx="32004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5B5CC"/>
                </a:solidFill>
                <a:latin typeface="Segoe UI"/>
              </a:defRPr>
            </a:pPr>
            <a:r>
              <a:t>Data processing and APIs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4800" y="4254500"/>
            <a:ext cx="1270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975600" y="42037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975600" y="4254500"/>
            <a:ext cx="76200" cy="5080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02600" y="3619500"/>
            <a:ext cx="3556000" cy="1257300"/>
          </a:xfrm>
          <a:prstGeom prst="roundRect">
            <a:avLst>
              <a:gd name="adj" fmla="val 10101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80400" y="3822700"/>
            <a:ext cx="32004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48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Segoe UI Semibold"/>
              </a:defRPr>
            </a:pPr>
            <a:r>
              <a:t>Data sources +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400" y="4394200"/>
            <a:ext cx="3200400" cy="342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5B5CC"/>
                </a:solidFill>
                <a:latin typeface="Segoe UI"/>
              </a:defRPr>
            </a:pPr>
            <a:r>
              <a:t>GNews + catalogs + 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516890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177"/>
                </a:solidFill>
                <a:latin typeface="Segoe UI"/>
              </a:defRPr>
            </a:pPr>
            <a:r>
              <a:t>News storage: Supabase / PostgreSQL, or local JSON for development.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5689600"/>
            <a:ext cx="111252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Segoe UI Semibold"/>
              </a:defRPr>
            </a:pPr>
            <a:r>
              <a:t>Optional AI: Gemini semantic checks + OpenAI article enrichment.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WHAT IS IMPLEMENTED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Current Progress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2032000"/>
            <a:ext cx="34798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News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300" y="2057400"/>
            <a:ext cx="74676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Feed, categories, search, sorting and article saves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3400" y="25400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6100" y="2755900"/>
            <a:ext cx="34798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Tools, podcasts and creators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300" y="2781300"/>
            <a:ext cx="74676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Searchable catalogs, creator profiles and saved resources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3400" y="32639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6100" y="3479800"/>
            <a:ext cx="34798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300" y="3505200"/>
            <a:ext cx="74676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Responsive layouts, themes, filters and saved views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3400" y="3987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6100" y="4203700"/>
            <a:ext cx="34798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033"/>
                </a:solidFill>
                <a:latin typeface="Segoe UI Semibold"/>
              </a:defRPr>
            </a:pPr>
            <a:r>
              <a:t>Data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8300" y="4229100"/>
            <a:ext cx="7467600" cy="3683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Validation, retention and configurable AI modules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3400" y="47117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3400" y="5105400"/>
            <a:ext cx="11125200" cy="1003300"/>
          </a:xfrm>
          <a:prstGeom prst="roundRect">
            <a:avLst>
              <a:gd name="adj" fmla="val 12658"/>
            </a:avLst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" y="52832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Segoe UI Semibold"/>
              </a:defRPr>
            </a:pPr>
            <a:r>
              <a:t>Current scope: news, tools, podcasts and creators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5765800"/>
            <a:ext cx="10566400" cy="2921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12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5B5CC"/>
                </a:solidFill>
                <a:latin typeface="Segoe UI"/>
              </a:defRPr>
            </a:pPr>
            <a:r>
              <a:t>Source-reviewed overview. Deployment and live integrations are not verified by this deck.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177"/>
                </a:solidFill>
                <a:latin typeface="Segoe UI"/>
              </a:defRPr>
            </a:pPr>
            <a:r>
              <a:t>PROPOSED NEXT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DFE5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38900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177"/>
                </a:solidFill>
                <a:latin typeface="Segoe UI"/>
              </a:defRPr>
            </a:pPr>
            <a: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863600"/>
            <a:ext cx="11125200" cy="698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968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033"/>
                </a:solidFill>
                <a:latin typeface="Segoe UI Semibold"/>
              </a:defRPr>
            </a:pPr>
            <a:r>
              <a:t>Future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587500"/>
            <a:ext cx="111252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26177"/>
                </a:solidFill>
                <a:latin typeface="Segoe UI"/>
              </a:defRPr>
            </a:pPr>
            <a:r>
              <a:t>Build on the working prototype, guided by user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2362200"/>
            <a:ext cx="3556000" cy="313690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362200"/>
            <a:ext cx="3556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Strengthen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Reliability and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267200"/>
            <a:ext cx="303530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Add collection history, broader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browser checks and stronger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source monitoring.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8000" y="2362200"/>
            <a:ext cx="3556000" cy="313690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8000" y="2362200"/>
            <a:ext cx="3556000" cy="76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4700" y="2667000"/>
            <a:ext cx="3035300" cy="7239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Personalise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700" y="3556000"/>
            <a:ext cx="3035300" cy="647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A more useful return visit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4700" y="4267200"/>
            <a:ext cx="3035300" cy="1143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Introduce accounts,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cross-device saves, topic</a:t>
            </a:r>
          </a:p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preferences and alerts.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2600" y="2362200"/>
            <a:ext cx="3556000" cy="3136900"/>
          </a:xfrm>
          <a:prstGeom prst="roundRect">
            <a:avLst>
              <a:gd name="adj" fmla="val 4858"/>
            </a:avLst>
          </a:prstGeom>
          <a:solidFill>
            <a:srgbClr val="FFFFFF"/>
          </a:solidFill>
          <a:ln w="10160">
            <a:solidFill>
              <a:srgbClr val="DF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2600" y="2362200"/>
            <a:ext cx="3556000" cy="76200"/>
          </a:xfrm>
          <a:prstGeom prst="rect">
            <a:avLst/>
          </a:prstGeom>
          <a:solidFill>
            <a:srgbClr val="715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9300" y="2667000"/>
            <a:ext cx="2600000" cy="3707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033"/>
                </a:solidFill>
                <a:latin typeface="Segoe UI Semibold"/>
              </a:defRPr>
            </a:pPr>
            <a:r>
              <a:t>Expand 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9300" y="3556000"/>
            <a:ext cx="2532553" cy="2513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563EB"/>
                </a:solidFill>
                <a:latin typeface="Segoe UI Semibold"/>
              </a:defRPr>
            </a:pPr>
            <a:r>
              <a:t>Improve resource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9300" y="4267200"/>
            <a:ext cx="3111500" cy="105926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8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177"/>
                </a:solidFill>
                <a:latin typeface="Segoe UI"/>
              </a:defRPr>
            </a:pPr>
            <a:r>
              <a:t>Broaden tool and podcast coverage, improve catalog freshness and refine discovery filters.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3400" y="5613400"/>
            <a:ext cx="11125200" cy="508000"/>
          </a:xfrm>
          <a:prstGeom prst="roundRect">
            <a:avLst>
              <a:gd name="adj" fmla="val 20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1200" y="5727700"/>
            <a:ext cx="10769600" cy="355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563EB"/>
                </a:solidFill>
                <a:latin typeface="Segoe UI Semibold"/>
              </a:defRPr>
            </a:pPr>
            <a:r>
              <a:t>Proposed direction: prioritise after feedback, effort estimates and team agreement.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AAFF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5B5CC"/>
                </a:solidFill>
                <a:latin typeface="Segoe UI"/>
              </a:defRPr>
            </a:pPr>
            <a:r>
              <a:t>BELLORA.PULSE /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304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48425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5B5CC"/>
                </a:solidFill>
                <a:latin typeface="Segoe UI"/>
              </a:defRPr>
            </a:pPr>
            <a: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054100"/>
            <a:ext cx="10922000" cy="965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6695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47900"/>
            <a:ext cx="11125200" cy="146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Understand what is new</a:t>
            </a:r>
            <a:r>
              <a:rPr lang="en-US" dirty="0"/>
              <a:t> in AI</a:t>
            </a:r>
            <a:r>
              <a:rPr dirty="0"/>
              <a:t>.</a:t>
            </a:r>
          </a:p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rPr dirty="0"/>
              <a:t>Find where to go next.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4254500"/>
            <a:ext cx="3556000" cy="1130300"/>
          </a:xfrm>
          <a:prstGeom prst="roundRect">
            <a:avLst>
              <a:gd name="adj" fmla="val 11235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4457700"/>
            <a:ext cx="30988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AAFF"/>
                </a:solidFill>
                <a:latin typeface="Segoe UI Semibold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78400"/>
            <a:ext cx="30988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AI and startup developments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8000" y="4254500"/>
            <a:ext cx="3556000" cy="1130300"/>
          </a:xfrm>
          <a:prstGeom prst="roundRect">
            <a:avLst>
              <a:gd name="adj" fmla="val 11235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6600" y="4457700"/>
            <a:ext cx="30988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AA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4978400"/>
            <a:ext cx="30988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Useful voices and resources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2600" y="4254500"/>
            <a:ext cx="3556000" cy="1130300"/>
          </a:xfrm>
          <a:prstGeom prst="roundRect">
            <a:avLst>
              <a:gd name="adj" fmla="val 11235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1200" y="4457700"/>
            <a:ext cx="30988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AAFF"/>
                </a:solidFill>
                <a:latin typeface="Segoe UI Semibold"/>
              </a:defRPr>
            </a:pPr>
            <a:r>
              <a:t>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4978400"/>
            <a:ext cx="30988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Useful tools and podcasts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651500"/>
            <a:ext cx="11125200" cy="3937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Segoe UI"/>
              </a:defRPr>
            </a:pPr>
            <a:r>
              <a:t>One organised starting point for exploring AI.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254000"/>
            <a:ext cx="203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488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5AAFF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6000" y="254000"/>
            <a:ext cx="4292600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364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5B5CC"/>
                </a:solidFill>
                <a:latin typeface="Segoe UI"/>
              </a:defRPr>
            </a:pPr>
            <a:r>
              <a:t>BELLORA.PULSE /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3400" y="6273800"/>
            <a:ext cx="11125200" cy="0"/>
          </a:xfrm>
          <a:prstGeom prst="line">
            <a:avLst/>
          </a:prstGeom>
          <a:ln w="10160">
            <a:solidFill>
              <a:srgbClr val="304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00000" y="6448425"/>
            <a:ext cx="76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5B5CC"/>
                </a:solidFill>
                <a:latin typeface="Segoe UI"/>
              </a:defRPr>
            </a:pPr>
            <a: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054100"/>
            <a:ext cx="10922000" cy="965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6695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BELLORA.PULSE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247900"/>
            <a:ext cx="11125200" cy="1460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Thank you.</a:t>
            </a:r>
          </a:p>
          <a:p>
            <a:pPr algn="l">
              <a:lnSpc>
                <a:spcPts val="49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Questions, ideas or feedback?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4254500"/>
            <a:ext cx="3556000" cy="1130300"/>
          </a:xfrm>
          <a:prstGeom prst="roundRect">
            <a:avLst>
              <a:gd name="adj" fmla="val 11235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4457700"/>
            <a:ext cx="30988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AAFF"/>
                </a:solidFill>
                <a:latin typeface="Segoe UI Semibold"/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78400"/>
            <a:ext cx="30988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AI and startup developments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8000" y="4254500"/>
            <a:ext cx="3556000" cy="1130300"/>
          </a:xfrm>
          <a:prstGeom prst="roundRect">
            <a:avLst>
              <a:gd name="adj" fmla="val 11235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6600" y="4457700"/>
            <a:ext cx="30988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AAFF"/>
                </a:solidFill>
                <a:latin typeface="Segoe UI Semibold"/>
              </a:defRPr>
            </a:pPr>
            <a: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600" y="4978400"/>
            <a:ext cx="30988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Useful voices and resources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2600" y="4254500"/>
            <a:ext cx="3556000" cy="1130300"/>
          </a:xfrm>
          <a:prstGeom prst="roundRect">
            <a:avLst>
              <a:gd name="adj" fmla="val 11235"/>
            </a:avLst>
          </a:prstGeom>
          <a:solidFill>
            <a:srgbClr val="14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1200" y="4457700"/>
            <a:ext cx="3098800" cy="431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976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75AAFF"/>
                </a:solidFill>
                <a:latin typeface="Segoe UI Semibold"/>
              </a:defRPr>
            </a:pPr>
            <a:r>
              <a:t>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1200" y="4978400"/>
            <a:ext cx="3098800" cy="330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t>Useful tools and podcasts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651500"/>
            <a:ext cx="11125200" cy="5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Developed by - Indrasena Seetana</a:t>
            </a:r>
          </a:p>
          <a:p>
            <a:pPr algn="l">
              <a:lnSpc>
                <a:spcPts val="272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AI Sr ERP Applications Engineer | Bell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1234</Words>
  <Application>Microsoft Office PowerPoint</Application>
  <PresentationFormat>Widescreen</PresentationFormat>
  <Paragraphs>388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Pulse | Product Overview</dc:title>
  <dc:subject>AI news, creator discovery, and job opportunities</dc:subject>
  <dc:creator>AI Pulse</dc:creator>
  <cp:keywords>AI Pulse, project presentation, news, creators, jobs</cp:keywords>
  <dc:description>generated using python-pptx</dc:description>
  <cp:lastModifiedBy>varshithagudipudi@outlook.com</cp:lastModifiedBy>
  <cp:revision>14</cp:revision>
  <dcterms:created xsi:type="dcterms:W3CDTF">2013-01-27T09:14:16Z</dcterms:created>
  <dcterms:modified xsi:type="dcterms:W3CDTF">2026-10-08T13:04:30Z</dcterms:modified>
  <cp:category/>
</cp:coreProperties>
</file>